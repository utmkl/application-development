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7125" r:id="rId1"/>
    <p:sldMasterId id="2147487317" r:id="rId2"/>
  </p:sldMasterIdLst>
  <p:notesMasterIdLst>
    <p:notesMasterId r:id="rId21"/>
  </p:notesMasterIdLst>
  <p:handoutMasterIdLst>
    <p:handoutMasterId r:id="rId22"/>
  </p:handoutMasterIdLst>
  <p:sldIdLst>
    <p:sldId id="593" r:id="rId3"/>
    <p:sldId id="576" r:id="rId4"/>
    <p:sldId id="577" r:id="rId5"/>
    <p:sldId id="578" r:id="rId6"/>
    <p:sldId id="579" r:id="rId7"/>
    <p:sldId id="594" r:id="rId8"/>
    <p:sldId id="580" r:id="rId9"/>
    <p:sldId id="581" r:id="rId10"/>
    <p:sldId id="582" r:id="rId11"/>
    <p:sldId id="583" r:id="rId12"/>
    <p:sldId id="584" r:id="rId13"/>
    <p:sldId id="585" r:id="rId14"/>
    <p:sldId id="586" r:id="rId15"/>
    <p:sldId id="587" r:id="rId16"/>
    <p:sldId id="588" r:id="rId17"/>
    <p:sldId id="589" r:id="rId18"/>
    <p:sldId id="590" r:id="rId19"/>
    <p:sldId id="592" r:id="rId20"/>
  </p:sldIdLst>
  <p:sldSz cx="9144000" cy="6858000" type="screen4x3"/>
  <p:notesSz cx="6858000" cy="9947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0000FF"/>
    <a:srgbClr val="800000"/>
    <a:srgbClr val="663300"/>
    <a:srgbClr val="660033"/>
    <a:srgbClr val="AAD9D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07"/>
  </p:normalViewPr>
  <p:slideViewPr>
    <p:cSldViewPr>
      <p:cViewPr varScale="1">
        <p:scale>
          <a:sx n="106" d="100"/>
          <a:sy n="106" d="100"/>
        </p:scale>
        <p:origin x="18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98475"/>
          </a:xfrm>
          <a:prstGeom prst="rect">
            <a:avLst/>
          </a:prstGeom>
        </p:spPr>
        <p:txBody>
          <a:bodyPr vert="horz" wrap="square" lIns="91678" tIns="45839" rIns="91678" bIns="4583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3025" y="0"/>
            <a:ext cx="2973388" cy="498475"/>
          </a:xfrm>
          <a:prstGeom prst="rect">
            <a:avLst/>
          </a:prstGeom>
        </p:spPr>
        <p:txBody>
          <a:bodyPr vert="horz" wrap="square" lIns="91678" tIns="45839" rIns="91678" bIns="4583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3F46519-2E28-4F75-89E6-3A27A98FE3EE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3388" cy="496888"/>
          </a:xfrm>
          <a:prstGeom prst="rect">
            <a:avLst/>
          </a:prstGeom>
        </p:spPr>
        <p:txBody>
          <a:bodyPr vert="horz" wrap="square" lIns="91678" tIns="45839" rIns="91678" bIns="4583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3025" y="9448800"/>
            <a:ext cx="2973388" cy="496888"/>
          </a:xfrm>
          <a:prstGeom prst="rect">
            <a:avLst/>
          </a:prstGeom>
        </p:spPr>
        <p:txBody>
          <a:bodyPr vert="horz" wrap="square" lIns="91678" tIns="45839" rIns="91678" bIns="4583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9F3664-0CA2-41B2-BD0E-6A9C4D3CFD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4001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98475"/>
          </a:xfrm>
          <a:prstGeom prst="rect">
            <a:avLst/>
          </a:prstGeom>
        </p:spPr>
        <p:txBody>
          <a:bodyPr vert="horz" wrap="square" lIns="93739" tIns="46870" rIns="93739" bIns="4687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98475"/>
          </a:xfrm>
          <a:prstGeom prst="rect">
            <a:avLst/>
          </a:prstGeom>
        </p:spPr>
        <p:txBody>
          <a:bodyPr vert="horz" wrap="square" lIns="93739" tIns="46870" rIns="93739" bIns="4687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4D73B77-A81A-43C6-94F7-CBAC00161ADB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3638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39" tIns="46870" rIns="93739" bIns="4687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2813"/>
            <a:ext cx="5486400" cy="4478337"/>
          </a:xfrm>
          <a:prstGeom prst="rect">
            <a:avLst/>
          </a:prstGeom>
        </p:spPr>
        <p:txBody>
          <a:bodyPr vert="horz" lIns="93739" tIns="46870" rIns="93739" bIns="4687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3388" cy="496888"/>
          </a:xfrm>
          <a:prstGeom prst="rect">
            <a:avLst/>
          </a:prstGeom>
        </p:spPr>
        <p:txBody>
          <a:bodyPr vert="horz" wrap="square" lIns="93739" tIns="46870" rIns="93739" bIns="4687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3025" y="9448800"/>
            <a:ext cx="2973388" cy="496888"/>
          </a:xfrm>
          <a:prstGeom prst="rect">
            <a:avLst/>
          </a:prstGeom>
        </p:spPr>
        <p:txBody>
          <a:bodyPr vert="horz" wrap="square" lIns="93739" tIns="46870" rIns="93739" bIns="4687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F8AB5F6-F707-4135-862C-AAFC02ECB5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5780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84BDE-F07F-4A7C-801A-DFFC7701EC19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52AB4-5215-4DAC-83D2-E85842AF2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99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6B305-19A7-4C5A-BCB8-710B96DC3087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4BE00-9DCE-4C7B-9AAD-0C52003BB3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51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124EF-3145-461F-8808-90FEAC4E171B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DF5FF-35F0-4625-9526-512A8FAB89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20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B5DCF-762C-477F-A0A5-A49B6EF167CC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1D078-4666-4321-9B49-9D8D46FEC0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82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9DBC6-88BD-41FF-AB9B-1BBB5F00DF9F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16F71-AD9E-4584-A3E7-CEBC5F1459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13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E071C-16ED-449B-B72B-6914F8CBBE42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AE2AC-93D6-442E-93DA-448C0F44F5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46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91924-0821-46DA-846C-BFACB5DCFBD2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E1B33-D27E-41F4-9417-5A81D00925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14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E03AC-6BB4-40A7-A094-8AAD5FC9A06D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FFB13-FF8C-426F-A68F-3F8639B11B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906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A491B-4816-4E29-B3CE-C47EEC850996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A8334-6B93-4BA7-A551-0729D693E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28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9E88B-BE73-4EDC-A70E-A14952FD18AD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F3E4D-8F9D-452A-9619-25CD408456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16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6B3F8-C22D-4E51-B6BF-5411BE7F1D41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9DE95-4B11-4D79-ADF1-EDA8C0FFDB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955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231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4746421"/>
      </p:ext>
    </p:extLst>
  </p:cSld>
  <p:clrMapOvr>
    <a:masterClrMapping/>
  </p:clrMapOvr>
  <p:transition spd="slow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134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2FBE062-A05F-4E6F-9E93-4CC1DAFF0953}" type="datetime1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-112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B252F66-7BE8-4FA9-9ADC-B6E4AD0201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595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2130431"/>
            <a:ext cx="7772401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79F1289-194D-41DD-A21F-5239641BD99B}" type="datetime1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-112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31F905E-65A0-41A2-ABE9-984398CC8D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35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ECD619A-F596-4D7A-8F0B-2EFFB4AF2F51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74E21AC-9CF3-4C5E-9CBA-ECD06652DC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416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BEAF23D-A9B2-4C15-9121-FA2A89710EEF}" type="datetimeFigureOut">
              <a:rPr lang="en-US" altLang="en-US"/>
              <a:pPr>
                <a:defRPr/>
              </a:pPr>
              <a:t>10/31/20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MS PGothic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B345321-C65E-4E56-95B2-75A4F1E31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8" y="184150"/>
            <a:ext cx="17160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6453188"/>
            <a:ext cx="338455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459" r:id="rId1"/>
    <p:sldLayoutId id="2147487460" r:id="rId2"/>
    <p:sldLayoutId id="2147487461" r:id="rId3"/>
    <p:sldLayoutId id="2147487462" r:id="rId4"/>
    <p:sldLayoutId id="2147487463" r:id="rId5"/>
    <p:sldLayoutId id="2147487464" r:id="rId6"/>
    <p:sldLayoutId id="2147487465" r:id="rId7"/>
    <p:sldLayoutId id="2147487466" r:id="rId8"/>
    <p:sldLayoutId id="2147487467" r:id="rId9"/>
    <p:sldLayoutId id="2147487468" r:id="rId10"/>
    <p:sldLayoutId id="2147487469" r:id="rId11"/>
    <p:sldLayoutId id="2147487471" r:id="rId12"/>
    <p:sldLayoutId id="214748747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0"/>
            <a:ext cx="89535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470" r:id="rId1"/>
    <p:sldLayoutId id="2147487473" r:id="rId2"/>
    <p:sldLayoutId id="2147487474" r:id="rId3"/>
    <p:sldLayoutId id="2147487475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BD85-7302-6B49-9687-F1A3D745B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35D1F-1BE7-8347-A785-6A330DD44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Why you should do IDEO.org's Introduction to Human-Centered Design Course |  by Monica Ray Scott | Medium">
            <a:extLst>
              <a:ext uri="{FF2B5EF4-FFF2-40B4-BE49-F238E27FC236}">
                <a16:creationId xmlns:a16="http://schemas.microsoft.com/office/drawing/2014/main" id="{9A28BADB-E7F6-7349-85D1-BA82758B0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560" y="838200"/>
            <a:ext cx="9183560" cy="515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11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09750"/>
            <a:ext cx="9144000" cy="2152650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65339" y="4629834"/>
            <a:ext cx="377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Prof. Dr. </a:t>
            </a:r>
            <a:r>
              <a:rPr lang="en-US" dirty="0" err="1"/>
              <a:t>Mohd</a:t>
            </a:r>
            <a:r>
              <a:rPr lang="en-US" dirty="0"/>
              <a:t> Shafry </a:t>
            </a:r>
            <a:r>
              <a:rPr lang="en-US" dirty="0" err="1"/>
              <a:t>Mohd</a:t>
            </a:r>
            <a:r>
              <a:rPr lang="en-US" dirty="0"/>
              <a:t> Rahim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3B295-9C45-8B4A-B056-953E7B1BCE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33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HUMAN-CENTRED DESIGN</a:t>
            </a:r>
            <a:br>
              <a:rPr lang="en-US" dirty="0"/>
            </a:br>
            <a:r>
              <a:rPr lang="en-US" dirty="0"/>
              <a:t>Phase 1: Discover</a:t>
            </a:r>
          </a:p>
        </p:txBody>
      </p:sp>
    </p:spTree>
    <p:extLst>
      <p:ext uri="{BB962C8B-B14F-4D97-AF65-F5344CB8AC3E}">
        <p14:creationId xmlns:p14="http://schemas.microsoft.com/office/powerpoint/2010/main" val="2953540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9812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Creating </a:t>
            </a:r>
            <a:r>
              <a:rPr lang="en-US" sz="3600" dirty="0">
                <a:solidFill>
                  <a:schemeClr val="accent6"/>
                </a:solidFill>
              </a:rPr>
              <a:t>meaningful solutions </a:t>
            </a:r>
            <a:r>
              <a:rPr lang="en-US" sz="3600" dirty="0"/>
              <a:t>begins with gaining a </a:t>
            </a:r>
            <a:r>
              <a:rPr lang="en-US" sz="3600" dirty="0">
                <a:solidFill>
                  <a:schemeClr val="accent2"/>
                </a:solidFill>
              </a:rPr>
              <a:t>deep understanding </a:t>
            </a:r>
            <a:r>
              <a:rPr lang="en-US" sz="3600" dirty="0"/>
              <a:t>of people’s </a:t>
            </a:r>
            <a:r>
              <a:rPr lang="en-US" sz="3600" dirty="0">
                <a:solidFill>
                  <a:srgbClr val="C0504D"/>
                </a:solidFill>
              </a:rPr>
              <a:t>needs</a:t>
            </a:r>
            <a:r>
              <a:rPr lang="en-US" sz="3600" dirty="0"/>
              <a:t>. </a:t>
            </a:r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6673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1752600"/>
            <a:ext cx="20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81600" y="1752600"/>
            <a:ext cx="2408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observing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400" y="3406914"/>
            <a:ext cx="69443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being open to the unexpected 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257800"/>
            <a:ext cx="805465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aseline="30000" dirty="0"/>
              <a:t>new experiences and perspectives</a:t>
            </a:r>
            <a:endParaRPr lang="en-US" sz="60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449759"/>
            <a:ext cx="41350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DISCOVERING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27714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9ADDD1-CAEE-5049-B7BC-9B921D55A526}"/>
              </a:ext>
            </a:extLst>
          </p:cNvPr>
          <p:cNvCxnSpPr/>
          <p:nvPr/>
        </p:nvCxnSpPr>
        <p:spPr>
          <a:xfrm>
            <a:off x="2081800" y="1828800"/>
            <a:ext cx="0" cy="365760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BAAF173-A945-C441-8D08-489CD2D96E26}"/>
              </a:ext>
            </a:extLst>
          </p:cNvPr>
          <p:cNvSpPr txBox="1"/>
          <p:nvPr/>
        </p:nvSpPr>
        <p:spPr>
          <a:xfrm>
            <a:off x="533400" y="762000"/>
            <a:ext cx="84369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5 Steps … to do a discovery …</a:t>
            </a: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D5D15-1EC8-FF4F-AA88-37C205FD79B9}"/>
              </a:ext>
            </a:extLst>
          </p:cNvPr>
          <p:cNvSpPr txBox="1"/>
          <p:nvPr/>
        </p:nvSpPr>
        <p:spPr>
          <a:xfrm>
            <a:off x="2291065" y="2133600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DESIGN CHALLENGE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FA3E0-6E3B-5449-B38A-D82DCEC6D6CB}"/>
              </a:ext>
            </a:extLst>
          </p:cNvPr>
          <p:cNvSpPr txBox="1"/>
          <p:nvPr/>
        </p:nvSpPr>
        <p:spPr>
          <a:xfrm>
            <a:off x="2260100" y="2739822"/>
            <a:ext cx="4438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PLAN YOUR RESEARCH METHODS 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1CFA0B-8776-AE4A-A1D6-63A41D502A51}"/>
              </a:ext>
            </a:extLst>
          </p:cNvPr>
          <p:cNvSpPr/>
          <p:nvPr/>
        </p:nvSpPr>
        <p:spPr>
          <a:xfrm>
            <a:off x="2236037" y="3417067"/>
            <a:ext cx="4232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3. BUILD YOUR DISCUSSION GUIDE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D3994-361F-834F-A9F0-E4BE91FDD25C}"/>
              </a:ext>
            </a:extLst>
          </p:cNvPr>
          <p:cNvSpPr/>
          <p:nvPr/>
        </p:nvSpPr>
        <p:spPr>
          <a:xfrm>
            <a:off x="2260100" y="4086291"/>
            <a:ext cx="3771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4. CAPTURE YOUR LEARNINGS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54BD97-788E-B441-A242-C60A967777BC}"/>
              </a:ext>
            </a:extLst>
          </p:cNvPr>
          <p:cNvSpPr/>
          <p:nvPr/>
        </p:nvSpPr>
        <p:spPr>
          <a:xfrm>
            <a:off x="2236037" y="4709063"/>
            <a:ext cx="3630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5. CONSTRUCT YOUR FINDING</a:t>
            </a:r>
            <a:endParaRPr lang="en-US" dirty="0"/>
          </a:p>
        </p:txBody>
      </p:sp>
      <p:sp>
        <p:nvSpPr>
          <p:cNvPr id="11" name="Rectangle 10">
            <a:hlinkClick r:id="rId2" action="ppaction://hlinksldjump" tooltip="Step 1"/>
            <a:extLst>
              <a:ext uri="{FF2B5EF4-FFF2-40B4-BE49-F238E27FC236}">
                <a16:creationId xmlns:a16="http://schemas.microsoft.com/office/drawing/2014/main" id="{7A3B585C-6B18-E241-810F-A7F9AAAAFE91}"/>
              </a:ext>
            </a:extLst>
          </p:cNvPr>
          <p:cNvSpPr/>
          <p:nvPr/>
        </p:nvSpPr>
        <p:spPr>
          <a:xfrm>
            <a:off x="1931237" y="2133600"/>
            <a:ext cx="304800" cy="304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hlinkClick r:id="rId3" action="ppaction://hlinksldjump"/>
            <a:extLst>
              <a:ext uri="{FF2B5EF4-FFF2-40B4-BE49-F238E27FC236}">
                <a16:creationId xmlns:a16="http://schemas.microsoft.com/office/drawing/2014/main" id="{12F8FF89-418C-B74F-9EAC-504515723142}"/>
              </a:ext>
            </a:extLst>
          </p:cNvPr>
          <p:cNvSpPr/>
          <p:nvPr/>
        </p:nvSpPr>
        <p:spPr>
          <a:xfrm>
            <a:off x="1931237" y="2772088"/>
            <a:ext cx="304800" cy="304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7D829AAC-A953-8C4E-8F96-6C763F391F7D}"/>
              </a:ext>
            </a:extLst>
          </p:cNvPr>
          <p:cNvSpPr/>
          <p:nvPr/>
        </p:nvSpPr>
        <p:spPr>
          <a:xfrm>
            <a:off x="1931237" y="3449333"/>
            <a:ext cx="304800" cy="304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hlinkClick r:id="rId5" action="ppaction://hlinksldjump"/>
            <a:extLst>
              <a:ext uri="{FF2B5EF4-FFF2-40B4-BE49-F238E27FC236}">
                <a16:creationId xmlns:a16="http://schemas.microsoft.com/office/drawing/2014/main" id="{933C4473-9D86-F848-9135-14426AEC080F}"/>
              </a:ext>
            </a:extLst>
          </p:cNvPr>
          <p:cNvSpPr/>
          <p:nvPr/>
        </p:nvSpPr>
        <p:spPr>
          <a:xfrm>
            <a:off x="1941432" y="4095959"/>
            <a:ext cx="304800" cy="304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6" action="ppaction://hlinksldjump"/>
            <a:extLst>
              <a:ext uri="{FF2B5EF4-FFF2-40B4-BE49-F238E27FC236}">
                <a16:creationId xmlns:a16="http://schemas.microsoft.com/office/drawing/2014/main" id="{1C317285-50DC-E441-AC64-B9B993BCFCF4}"/>
              </a:ext>
            </a:extLst>
          </p:cNvPr>
          <p:cNvSpPr/>
          <p:nvPr/>
        </p:nvSpPr>
        <p:spPr>
          <a:xfrm>
            <a:off x="1929400" y="4765066"/>
            <a:ext cx="304800" cy="304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7D6C5A-4A9F-F345-BAB9-4C7ABB27A11D}"/>
              </a:ext>
            </a:extLst>
          </p:cNvPr>
          <p:cNvSpPr/>
          <p:nvPr/>
        </p:nvSpPr>
        <p:spPr>
          <a:xfrm>
            <a:off x="1945443" y="5775049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THANKS ……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754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111" y="914400"/>
            <a:ext cx="60156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DESIGN CHALLENGE </a:t>
            </a:r>
            <a:endParaRPr lang="en-US" sz="4400" dirty="0"/>
          </a:p>
        </p:txBody>
      </p:sp>
      <p:sp>
        <p:nvSpPr>
          <p:cNvPr id="3" name="Rectangle 2"/>
          <p:cNvSpPr/>
          <p:nvPr/>
        </p:nvSpPr>
        <p:spPr>
          <a:xfrm>
            <a:off x="411076" y="3231098"/>
            <a:ext cx="2636924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aseline="30000" dirty="0"/>
              <a:t>Collect thoughts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2971800" y="4678898"/>
            <a:ext cx="4378122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aseline="30000" dirty="0"/>
              <a:t>Define what you don’t know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1371600" y="3916898"/>
            <a:ext cx="4891083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aseline="30000" dirty="0"/>
              <a:t>Review what you already know</a:t>
            </a:r>
            <a:endParaRPr lang="en-US" sz="4000" dirty="0"/>
          </a:p>
        </p:txBody>
      </p:sp>
      <p:sp>
        <p:nvSpPr>
          <p:cNvPr id="6" name="Rectangle 5"/>
          <p:cNvSpPr/>
          <p:nvPr/>
        </p:nvSpPr>
        <p:spPr>
          <a:xfrm>
            <a:off x="4114800" y="5517098"/>
            <a:ext cx="4707803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aseline="30000" dirty="0"/>
              <a:t>Review constraints or barriers</a:t>
            </a:r>
            <a:endParaRPr lang="en-US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09600"/>
            <a:ext cx="9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BEEC1-B79E-AB49-BFB5-BF119669BD1F}"/>
              </a:ext>
            </a:extLst>
          </p:cNvPr>
          <p:cNvSpPr txBox="1"/>
          <p:nvPr/>
        </p:nvSpPr>
        <p:spPr>
          <a:xfrm>
            <a:off x="381000" y="1515070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Design Challenge is a statement that help create better solutions to society’s most complicated problems. We support innovators and entrepreneurs to design products and services with real social impact.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29FA6-F181-1546-B6A2-B255749E07EA}"/>
              </a:ext>
            </a:extLst>
          </p:cNvPr>
          <p:cNvSpPr txBox="1"/>
          <p:nvPr/>
        </p:nvSpPr>
        <p:spPr>
          <a:xfrm>
            <a:off x="381000" y="2571770"/>
            <a:ext cx="836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People are inspired to  ………….. ?</a:t>
            </a:r>
          </a:p>
        </p:txBody>
      </p:sp>
      <p:sp>
        <p:nvSpPr>
          <p:cNvPr id="10" name="Rectangle 9">
            <a:hlinkClick r:id="rId2" action="ppaction://hlinksldjump"/>
            <a:extLst>
              <a:ext uri="{FF2B5EF4-FFF2-40B4-BE49-F238E27FC236}">
                <a16:creationId xmlns:a16="http://schemas.microsoft.com/office/drawing/2014/main" id="{A43B2809-AF74-FC46-8A77-6E943D8C5260}"/>
              </a:ext>
            </a:extLst>
          </p:cNvPr>
          <p:cNvSpPr/>
          <p:nvPr/>
        </p:nvSpPr>
        <p:spPr>
          <a:xfrm>
            <a:off x="1577138" y="624404"/>
            <a:ext cx="304800" cy="2899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3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011" y="990600"/>
            <a:ext cx="8924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PLAN YOUR RESEARCH METHODS 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243302" y="609600"/>
            <a:ext cx="9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590800"/>
            <a:ext cx="2327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Learn from users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200" y="3505200"/>
            <a:ext cx="374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Talk with experts, near and far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14600" y="4343400"/>
            <a:ext cx="3507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 Immerse yourself in context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52800" y="5105400"/>
            <a:ext cx="459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/>
              <a:t>4 </a:t>
            </a:r>
            <a:r>
              <a:rPr lang="nl-NL" b="1" dirty="0" err="1"/>
              <a:t>Seek</a:t>
            </a:r>
            <a:r>
              <a:rPr lang="nl-NL" b="1" dirty="0"/>
              <a:t> </a:t>
            </a:r>
            <a:r>
              <a:rPr lang="nl-NL" b="1" dirty="0" err="1"/>
              <a:t>inspiration</a:t>
            </a:r>
            <a:r>
              <a:rPr lang="nl-NL" b="1" dirty="0"/>
              <a:t> in </a:t>
            </a:r>
            <a:r>
              <a:rPr lang="nl-NL" b="1" dirty="0" err="1"/>
              <a:t>analogous</a:t>
            </a:r>
            <a:r>
              <a:rPr lang="nl-NL" b="1" dirty="0"/>
              <a:t> </a:t>
            </a:r>
            <a:r>
              <a:rPr lang="nl-NL" b="1" dirty="0" err="1"/>
              <a:t>settings</a:t>
            </a:r>
            <a:r>
              <a:rPr lang="nl-NL" b="1" dirty="0"/>
              <a:t> </a:t>
            </a:r>
            <a:endParaRPr lang="nl-NL" dirty="0"/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E2A548C4-A60C-D74F-8FA3-5748748414F1}"/>
              </a:ext>
            </a:extLst>
          </p:cNvPr>
          <p:cNvSpPr/>
          <p:nvPr/>
        </p:nvSpPr>
        <p:spPr>
          <a:xfrm>
            <a:off x="1577138" y="624404"/>
            <a:ext cx="304800" cy="2899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21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1143000"/>
            <a:ext cx="84689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BUILD YOUR DISCUSSION GUIDE 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243302" y="609600"/>
            <a:ext cx="9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219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Identify objectives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33600" y="3810000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Word questions strategically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0" y="4724400"/>
            <a:ext cx="2801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Create a </a:t>
            </a:r>
            <a:r>
              <a:rPr lang="it-IT" b="1" dirty="0" err="1"/>
              <a:t>question</a:t>
            </a:r>
            <a:r>
              <a:rPr lang="it-IT" b="1" dirty="0"/>
              <a:t> guide </a:t>
            </a:r>
            <a:endParaRPr lang="it-IT" dirty="0"/>
          </a:p>
        </p:txBody>
      </p:sp>
      <p:sp>
        <p:nvSpPr>
          <p:cNvPr id="9" name="TextBox 8"/>
          <p:cNvSpPr txBox="1"/>
          <p:nvPr/>
        </p:nvSpPr>
        <p:spPr>
          <a:xfrm>
            <a:off x="3886200" y="5562600"/>
            <a:ext cx="2890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Organize</a:t>
            </a:r>
            <a:r>
              <a:rPr lang="fr-FR" b="1" dirty="0"/>
              <a:t> </a:t>
            </a:r>
            <a:r>
              <a:rPr lang="fr-FR" b="1" dirty="0" err="1"/>
              <a:t>your</a:t>
            </a:r>
            <a:r>
              <a:rPr lang="fr-FR" b="1" dirty="0"/>
              <a:t> questions </a:t>
            </a:r>
            <a:endParaRPr lang="fr-FR" dirty="0"/>
          </a:p>
        </p:txBody>
      </p:sp>
      <p:sp>
        <p:nvSpPr>
          <p:cNvPr id="11" name="TextBox 10"/>
          <p:cNvSpPr txBox="1"/>
          <p:nvPr/>
        </p:nvSpPr>
        <p:spPr>
          <a:xfrm>
            <a:off x="4800600" y="2590800"/>
            <a:ext cx="412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Build tangible conversation starters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3581400"/>
            <a:ext cx="230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Confirm your plans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010400" y="4724400"/>
            <a:ext cx="157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Assign roles </a:t>
            </a:r>
            <a:endParaRPr lang="en-US" dirty="0"/>
          </a:p>
        </p:txBody>
      </p:sp>
      <p:sp>
        <p:nvSpPr>
          <p:cNvPr id="14" name="Rectangle 13">
            <a:hlinkClick r:id="rId2" action="ppaction://hlinksldjump"/>
            <a:extLst>
              <a:ext uri="{FF2B5EF4-FFF2-40B4-BE49-F238E27FC236}">
                <a16:creationId xmlns:a16="http://schemas.microsoft.com/office/drawing/2014/main" id="{DDD464E0-E539-E343-8C01-5F1167078F3C}"/>
              </a:ext>
            </a:extLst>
          </p:cNvPr>
          <p:cNvSpPr/>
          <p:nvPr/>
        </p:nvSpPr>
        <p:spPr>
          <a:xfrm>
            <a:off x="1577138" y="624404"/>
            <a:ext cx="304800" cy="2899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14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990600"/>
            <a:ext cx="7442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CAPTURE YOUR LEARNINGS 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609600"/>
            <a:ext cx="9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67000"/>
            <a:ext cx="245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Take time to regroup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1200" y="3505200"/>
            <a:ext cx="2814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Share your impressions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14800" y="4648200"/>
            <a:ext cx="2314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Illustrate new ideas </a:t>
            </a:r>
            <a:endParaRPr lang="en-US" dirty="0"/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91A1B001-C9DE-9A4A-A2C5-4E92468079EB}"/>
              </a:ext>
            </a:extLst>
          </p:cNvPr>
          <p:cNvSpPr/>
          <p:nvPr/>
        </p:nvSpPr>
        <p:spPr>
          <a:xfrm>
            <a:off x="1577138" y="624404"/>
            <a:ext cx="304800" cy="2899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23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990600"/>
            <a:ext cx="7271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CONSTRUCT YOUR FINDING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609600"/>
            <a:ext cx="9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67000"/>
            <a:ext cx="2519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Problem Background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1200" y="3505200"/>
            <a:ext cx="697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81400" y="3505200"/>
            <a:ext cx="1352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Objectives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324600" y="3505200"/>
            <a:ext cx="100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Scopes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00307" y="2590800"/>
            <a:ext cx="1467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Motivations</a:t>
            </a:r>
            <a:endParaRPr lang="en-US" dirty="0"/>
          </a:p>
        </p:txBody>
      </p:sp>
      <p:sp>
        <p:nvSpPr>
          <p:cNvPr id="10" name="Rectangle 9">
            <a:hlinkClick r:id="rId2" action="ppaction://hlinksldjump"/>
            <a:extLst>
              <a:ext uri="{FF2B5EF4-FFF2-40B4-BE49-F238E27FC236}">
                <a16:creationId xmlns:a16="http://schemas.microsoft.com/office/drawing/2014/main" id="{422C8B26-2665-3543-9712-4209DD3D327E}"/>
              </a:ext>
            </a:extLst>
          </p:cNvPr>
          <p:cNvSpPr/>
          <p:nvPr/>
        </p:nvSpPr>
        <p:spPr>
          <a:xfrm>
            <a:off x="1577138" y="624404"/>
            <a:ext cx="304800" cy="2899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8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809750"/>
            <a:ext cx="9144000" cy="21526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Next Class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2857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6083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STATE YOUR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5908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936" y="877669"/>
            <a:ext cx="8631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TEAM KNOWLEDGE &amp; ASSUMPTIONS 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2133600"/>
            <a:ext cx="8153400" cy="4191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5400" dirty="0"/>
              <a:t>#1 …………...</a:t>
            </a:r>
          </a:p>
          <a:p>
            <a:r>
              <a:rPr lang="en-US" sz="5400" dirty="0"/>
              <a:t>#2 ……………</a:t>
            </a:r>
          </a:p>
          <a:p>
            <a:r>
              <a:rPr lang="en-US" sz="5400" dirty="0"/>
              <a:t>#3 ……………</a:t>
            </a:r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819400"/>
            <a:ext cx="28575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447800"/>
            <a:ext cx="853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aspects of the challenge that you already know a lot about? What are your assumptions?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596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609600"/>
            <a:ext cx="4160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RESEARCH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733800" cy="2362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aseline="30000" dirty="0"/>
              <a:t>Community Members</a:t>
            </a:r>
          </a:p>
          <a:p>
            <a:r>
              <a:rPr lang="en-US" sz="3200" baseline="30000" dirty="0"/>
              <a:t> to Visit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733800" cy="2362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3200" baseline="30000" dirty="0"/>
              <a:t>Experts to Speak To</a:t>
            </a:r>
            <a:endParaRPr lang="en-US" sz="3200" dirty="0"/>
          </a:p>
        </p:txBody>
      </p:sp>
      <p:sp>
        <p:nvSpPr>
          <p:cNvPr id="6" name="Rounded Rectangle 5"/>
          <p:cNvSpPr/>
          <p:nvPr/>
        </p:nvSpPr>
        <p:spPr>
          <a:xfrm>
            <a:off x="685800" y="3962400"/>
            <a:ext cx="3733800" cy="2362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aseline="30000" dirty="0"/>
              <a:t>In-Context </a:t>
            </a:r>
          </a:p>
          <a:p>
            <a:r>
              <a:rPr lang="en-US" sz="3200" baseline="30000" dirty="0"/>
              <a:t>Immersion</a:t>
            </a:r>
          </a:p>
          <a:p>
            <a:r>
              <a:rPr lang="en-US" sz="3200" baseline="30000" dirty="0"/>
              <a:t>Locations</a:t>
            </a:r>
            <a:endParaRPr lang="en-US" sz="3200" dirty="0"/>
          </a:p>
        </p:txBody>
      </p:sp>
      <p:sp>
        <p:nvSpPr>
          <p:cNvPr id="7" name="Rounded Rectangle 6"/>
          <p:cNvSpPr/>
          <p:nvPr/>
        </p:nvSpPr>
        <p:spPr>
          <a:xfrm>
            <a:off x="4572000" y="3962400"/>
            <a:ext cx="3733800" cy="2362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3200" baseline="30000" dirty="0"/>
              <a:t>Analogous</a:t>
            </a:r>
          </a:p>
          <a:p>
            <a:pPr algn="r"/>
            <a:r>
              <a:rPr lang="en-US" sz="3200" baseline="30000" dirty="0"/>
              <a:t> Research Locations</a:t>
            </a:r>
            <a:endParaRPr lang="en-US" sz="3200" dirty="0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5908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921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6152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BUILD A QUESTION GUIDE 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1148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Start specific</a:t>
            </a:r>
          </a:p>
          <a:p>
            <a:r>
              <a:rPr lang="en-US" dirty="0"/>
              <a:t>What are some specific </a:t>
            </a:r>
          </a:p>
          <a:p>
            <a:r>
              <a:rPr lang="en-US" dirty="0"/>
              <a:t>questions you can ask</a:t>
            </a:r>
          </a:p>
          <a:p>
            <a:r>
              <a:rPr lang="en-US" dirty="0"/>
              <a:t>to open the conversation </a:t>
            </a:r>
          </a:p>
          <a:p>
            <a:r>
              <a:rPr lang="en-US" dirty="0"/>
              <a:t>and help people</a:t>
            </a:r>
          </a:p>
          <a:p>
            <a:r>
              <a:rPr lang="en-US" dirty="0"/>
              <a:t> feel comfortable? </a:t>
            </a:r>
          </a:p>
          <a:p>
            <a:r>
              <a:rPr lang="en-US" b="1" dirty="0"/>
              <a:t> 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800600" y="1905000"/>
            <a:ext cx="41148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dirty="0"/>
              <a:t>Then go broad</a:t>
            </a:r>
          </a:p>
          <a:p>
            <a:pPr algn="r"/>
            <a:r>
              <a:rPr lang="en-US" dirty="0"/>
              <a:t>What are some questions</a:t>
            </a:r>
          </a:p>
          <a:p>
            <a:pPr algn="r"/>
            <a:r>
              <a:rPr lang="en-US" dirty="0"/>
              <a:t> that can help you start </a:t>
            </a:r>
          </a:p>
          <a:p>
            <a:pPr algn="r"/>
            <a:r>
              <a:rPr lang="en-US" dirty="0"/>
              <a:t>to understand </a:t>
            </a:r>
          </a:p>
          <a:p>
            <a:pPr algn="r"/>
            <a:r>
              <a:rPr lang="en-US" dirty="0"/>
              <a:t>this </a:t>
            </a:r>
          </a:p>
          <a:p>
            <a:pPr algn="r"/>
            <a:r>
              <a:rPr lang="en-US" dirty="0"/>
              <a:t>person’s hopes, </a:t>
            </a:r>
          </a:p>
          <a:p>
            <a:pPr algn="r"/>
            <a:r>
              <a:rPr lang="en-US" dirty="0"/>
              <a:t>fears, and ambitions? </a:t>
            </a:r>
          </a:p>
          <a:p>
            <a:pPr algn="r"/>
            <a:r>
              <a:rPr lang="en-US" b="1" dirty="0"/>
              <a:t> 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5908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37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6665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CONDUCT YOUR RESEARCH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1. Result of Interview Session</a:t>
            </a:r>
          </a:p>
          <a:p>
            <a:r>
              <a:rPr lang="en-US" dirty="0"/>
              <a:t>2. Result of Observation of the </a:t>
            </a:r>
          </a:p>
          <a:p>
            <a:r>
              <a:rPr lang="en-US" dirty="0"/>
              <a:t>people an location</a:t>
            </a:r>
          </a:p>
          <a:p>
            <a:r>
              <a:rPr lang="en-US" dirty="0"/>
              <a:t>3. Sketch your Empathy </a:t>
            </a:r>
          </a:p>
          <a:p>
            <a:r>
              <a:rPr lang="en-US" dirty="0"/>
              <a:t>and Sympathy</a:t>
            </a:r>
          </a:p>
          <a:p>
            <a:r>
              <a:rPr lang="en-US" dirty="0"/>
              <a:t>4. Note &amp; Photo of your observation </a:t>
            </a:r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8956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42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7999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WRITE YOUR DISCOVERY REPORT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59080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65934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Rasmi UTM 2015 tagline engli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5389</TotalTime>
  <Words>366</Words>
  <Application>Microsoft Macintosh PowerPoint</Application>
  <PresentationFormat>On-screen Show (4:3)</PresentationFormat>
  <Paragraphs>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Slide Rasmi UTM 2015 tagline english</vt:lpstr>
      <vt:lpstr>Theme1</vt:lpstr>
      <vt:lpstr>PowerPoint Presentation</vt:lpstr>
      <vt:lpstr>Discovery</vt:lpstr>
      <vt:lpstr>HUMAN-CENTRED DESIGN Phase 1: Discover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MOHD SHAFRY BIN MOHD RAHIM</cp:lastModifiedBy>
  <cp:revision>238</cp:revision>
  <cp:lastPrinted>2015-09-07T04:19:50Z</cp:lastPrinted>
  <dcterms:modified xsi:type="dcterms:W3CDTF">2020-10-30T23:49:34Z</dcterms:modified>
</cp:coreProperties>
</file>